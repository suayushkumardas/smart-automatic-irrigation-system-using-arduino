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sldIdLst>
    <p:sldId id="256" r:id="rId3"/>
    <p:sldId id="257" r:id="rId4"/>
    <p:sldId id="258" r:id="rId5"/>
    <p:sldId id="259" r:id="rId6"/>
    <p:sldId id="260" r:id="rId7"/>
    <p:sldId id="274" r:id="rId8"/>
    <p:sldId id="275" r:id="rId9"/>
    <p:sldId id="276" r:id="rId10"/>
    <p:sldId id="277" r:id="rId11"/>
    <p:sldId id="278" r:id="rId12"/>
    <p:sldId id="270" r:id="rId13"/>
    <p:sldId id="271" r:id="rId14"/>
    <p:sldId id="272" r:id="rId15"/>
    <p:sldId id="273" r:id="rId16"/>
    <p:sldId id="261" r:id="rId17"/>
    <p:sldId id="268" r:id="rId18"/>
    <p:sldId id="269" r:id="rId19"/>
    <p:sldId id="262" r:id="rId20"/>
    <p:sldId id="263" r:id="rId21"/>
    <p:sldId id="264" r:id="rId22"/>
    <p:sldId id="265" r:id="rId23"/>
    <p:sldId id="267"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7" d="100"/>
          <a:sy n="77" d="100"/>
        </p:scale>
        <p:origin x="978" y="39"/>
      </p:cViewPr>
      <p:guideLst>
        <p:guide orient="horz" pos="2160"/>
        <p:guide pos="28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0A5579-5FAE-4D79-BADB-24F448772159}" type="datetimeFigureOut">
              <a:rPr lang="en-IN" smtClean="0"/>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BD690-5D1C-4A22-A83F-72B087D8A357}"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a:prstGeom prst="roundRect">
            <a:avLst>
              <a:gd name="adj" fmla="val 10194"/>
            </a:avLst>
          </a:prstGeom>
        </p:spPr>
        <p:style>
          <a:lnRef idx="1">
            <a:schemeClr val="accent4"/>
          </a:lnRef>
          <a:fillRef idx="2">
            <a:schemeClr val="accent4"/>
          </a:fillRef>
          <a:effectRef idx="1">
            <a:schemeClr val="accent4"/>
          </a:effectRef>
          <a:fontRef idx="none"/>
        </p:style>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chor="ctr">
            <a:normAutofit/>
          </a:bodyPr>
          <a:lstStyle>
            <a:lvl1pPr marL="0" indent="0" algn="ctr">
              <a:buNone/>
              <a:defRPr sz="2800" b="1">
                <a:solidFill>
                  <a:srgbClr val="C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E245C03C-4E4B-456A-82F7-0C8C80F802A4}" type="datetime1">
              <a:rPr lang="en-IN" smtClean="0"/>
            </a:fld>
            <a:endParaRPr lang="en-IN"/>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ADFB7573-0EEC-4F18-B4D8-B9624EC7F9C7}"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cxnSp>
        <p:nvCxnSpPr>
          <p:cNvPr id="8" name="Straight Connector 7"/>
          <p:cNvCxnSpPr/>
          <p:nvPr userDrawn="1"/>
        </p:nvCxnSpPr>
        <p:spPr>
          <a:xfrm>
            <a:off x="0" y="6272613"/>
            <a:ext cx="9144000" cy="0"/>
          </a:xfrm>
          <a:prstGeom prst="line">
            <a:avLst/>
          </a:prstGeom>
          <a:ln w="38100">
            <a:solidFill>
              <a:srgbClr val="C00000"/>
            </a:solidFill>
          </a:ln>
        </p:spPr>
        <p:style>
          <a:lnRef idx="3">
            <a:schemeClr val="accent2"/>
          </a:lnRef>
          <a:fillRef idx="0">
            <a:schemeClr val="accent2"/>
          </a:fillRef>
          <a:effectRef idx="2">
            <a:schemeClr val="accent2"/>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102FD6B-8032-4829-B4E8-B5A13942ACB1}"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830B156-E9C2-4089-BE8B-039826BBCF49}"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2BAA8F2-CEBB-42F2-ABB5-DBEDC54A2724}" type="datetime1">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A4DCA7-BC2C-498A-8892-C3DA341BAC80}" type="datetime1">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6EF9A9-599A-4B35-AA32-0CE3A73C181A}" type="datetime1">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0288FD7-AC07-442D-84DA-2C9F324FA9B7}"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0D60739-263C-4AC0-908C-23A0496DBB8C}"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A53856-92C1-48E2-A678-16485DB25C68}"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F939461-CAE6-476C-8ED6-DBF4B56C1ADD}"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8007" y="222192"/>
            <a:ext cx="8785077" cy="632387"/>
          </a:xfrm>
          <a:prstGeom prst="roundRect">
            <a:avLst/>
          </a:prstGeom>
        </p:spPr>
        <p:style>
          <a:lnRef idx="1">
            <a:schemeClr val="accent4"/>
          </a:lnRef>
          <a:fillRef idx="2">
            <a:schemeClr val="accent4"/>
          </a:fillRef>
          <a:effectRef idx="1">
            <a:schemeClr val="accent4"/>
          </a:effectRef>
          <a:fontRef idx="none"/>
        </p:style>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88006" y="1008404"/>
            <a:ext cx="8785077" cy="5195843"/>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188006" y="6363177"/>
            <a:ext cx="1187867" cy="365125"/>
          </a:xfrm>
          <a:prstGeom prst="rect">
            <a:avLst/>
          </a:prstGeom>
        </p:spPr>
        <p:txBody>
          <a:bodyPr vert="horz" lIns="91440" tIns="45720" rIns="91440" bIns="45720" rtlCol="0" anchor="ctr"/>
          <a:lstStyle>
            <a:lvl1pPr algn="l">
              <a:defRPr sz="1400" b="1">
                <a:solidFill>
                  <a:schemeClr val="tx1"/>
                </a:solidFill>
                <a:latin typeface="Leelawadee" panose="020B0502040204020203" pitchFamily="34" charset="-34"/>
                <a:cs typeface="Leelawadee" panose="020B0502040204020203" pitchFamily="34" charset="-34"/>
              </a:defRPr>
            </a:lvl1pPr>
          </a:lstStyle>
          <a:p>
            <a:fld id="{6AF89DF0-7DAD-40C2-A6C2-6C23C0306B67}" type="datetime1">
              <a:rPr lang="en-IN" smtClean="0"/>
            </a:fld>
            <a:endParaRPr lang="en-IN" dirty="0"/>
          </a:p>
        </p:txBody>
      </p:sp>
      <p:sp>
        <p:nvSpPr>
          <p:cNvPr id="5" name="Footer Placeholder 4"/>
          <p:cNvSpPr>
            <a:spLocks noGrp="1"/>
          </p:cNvSpPr>
          <p:nvPr>
            <p:ph type="ftr" sz="quarter" idx="3"/>
          </p:nvPr>
        </p:nvSpPr>
        <p:spPr>
          <a:xfrm>
            <a:off x="1418603" y="6364897"/>
            <a:ext cx="6905001" cy="365125"/>
          </a:xfrm>
          <a:prstGeom prst="rect">
            <a:avLst/>
          </a:prstGeom>
        </p:spPr>
        <p:txBody>
          <a:bodyPr vert="horz" lIns="91440" tIns="45720" rIns="91440" bIns="45720" rtlCol="0" anchor="ctr"/>
          <a:lstStyle>
            <a:lvl1pPr algn="ctr">
              <a:defRPr sz="1400" b="1">
                <a:solidFill>
                  <a:schemeClr val="tx1"/>
                </a:solidFill>
                <a:latin typeface="Leelawadee" panose="020B0502040204020203" pitchFamily="34" charset="-34"/>
                <a:cs typeface="Leelawadee" panose="020B0502040204020203" pitchFamily="34" charset="-34"/>
              </a:defRPr>
            </a:lvl1pPr>
          </a:lstStyle>
          <a:p>
            <a:endParaRPr lang="en-IN" dirty="0"/>
          </a:p>
        </p:txBody>
      </p:sp>
      <p:sp>
        <p:nvSpPr>
          <p:cNvPr id="6" name="Slide Number Placeholder 5"/>
          <p:cNvSpPr>
            <a:spLocks noGrp="1"/>
          </p:cNvSpPr>
          <p:nvPr>
            <p:ph type="sldNum" sz="quarter" idx="4"/>
          </p:nvPr>
        </p:nvSpPr>
        <p:spPr>
          <a:xfrm>
            <a:off x="8417606" y="6364896"/>
            <a:ext cx="538387" cy="365125"/>
          </a:xfrm>
          <a:prstGeom prst="rect">
            <a:avLst/>
          </a:prstGeom>
        </p:spPr>
        <p:txBody>
          <a:bodyPr vert="horz" lIns="91440" tIns="45720" rIns="91440" bIns="45720" rtlCol="0" anchor="ctr"/>
          <a:lstStyle>
            <a:lvl1pPr algn="r">
              <a:defRPr sz="1400" b="1">
                <a:solidFill>
                  <a:schemeClr val="tx1"/>
                </a:solidFill>
                <a:latin typeface="Leelawadee" panose="020B0502040204020203" pitchFamily="34" charset="-34"/>
                <a:cs typeface="Leelawadee" panose="020B0502040204020203" pitchFamily="34" charset="-34"/>
              </a:defRPr>
            </a:lvl1pPr>
          </a:lstStyle>
          <a:p>
            <a:fld id="{ADFB7573-0EEC-4F18-B4D8-B9624EC7F9C7}"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000" b="1" kern="1200">
          <a:solidFill>
            <a:schemeClr val="tx1"/>
          </a:solidFill>
          <a:latin typeface="Leelawadee" panose="020B0502040204020203" pitchFamily="34" charset="-34"/>
          <a:ea typeface="+mj-ea"/>
          <a:cs typeface="Leelawadee" panose="020B0502040204020203" pitchFamily="34"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ook Antiqua" panose="0204060205030503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C00000"/>
          </a:solidFill>
          <a:latin typeface="Book Antiqua" panose="0204060205030503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ook Antiqua" panose="020406020503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C00000"/>
          </a:solidFill>
          <a:latin typeface="Book Antiqua" panose="020406020503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ook Antiqua" panose="020406020503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arduino.cc/"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5176" y="310896"/>
            <a:ext cx="8641080" cy="1655763"/>
          </a:xfrm>
        </p:spPr>
        <p:style>
          <a:lnRef idx="1">
            <a:schemeClr val="accent4"/>
          </a:lnRef>
          <a:fillRef idx="2">
            <a:schemeClr val="accent4"/>
          </a:fillRef>
          <a:effectRef idx="1">
            <a:schemeClr val="accent4"/>
          </a:effectRef>
          <a:fontRef idx="minor">
            <a:schemeClr val="dk1"/>
          </a:fontRef>
        </p:style>
        <p:txBody>
          <a:bodyPr>
            <a:normAutofit fontScale="90000"/>
          </a:bodyPr>
          <a:lstStyle/>
          <a:p>
            <a:r>
              <a:rPr lang="en-US" sz="3200" dirty="0">
                <a:solidFill>
                  <a:srgbClr val="FF0000"/>
                </a:solidFill>
                <a:cs typeface="Leelawadee" panose="020B0502040204020203"/>
              </a:rPr>
              <a:t>Embedded System Projects using Arduino (EET 4109)</a:t>
            </a:r>
            <a:br>
              <a:rPr lang="en-US" sz="3200" dirty="0">
                <a:solidFill>
                  <a:srgbClr val="FF0000"/>
                </a:solidFill>
                <a:cs typeface="Leelawadee" panose="020B0502040204020203"/>
              </a:rPr>
            </a:br>
            <a:r>
              <a:rPr lang="en-US" sz="2700" b="0" dirty="0">
                <a:cs typeface="Leelawadee" panose="020B0502040204020203"/>
              </a:rPr>
              <a:t>End-Term Project Presentation on</a:t>
            </a:r>
            <a:br>
              <a:rPr lang="en-US" dirty="0">
                <a:cs typeface="Leelawadee" panose="020B0502040204020203"/>
              </a:rPr>
            </a:br>
            <a:r>
              <a:rPr lang="en-IN" altLang="en-US" sz="3110" dirty="0">
                <a:cs typeface="Leelawadee" panose="020B0502040204020203"/>
              </a:rPr>
              <a:t>Arduino Based Automatic Plant Watering System with Environmental Monitoring</a:t>
            </a:r>
            <a:endParaRPr lang="en-IN" altLang="en-US" sz="3110" dirty="0">
              <a:cs typeface="Leelawadee" panose="020B0502040204020203"/>
            </a:endParaRPr>
          </a:p>
        </p:txBody>
      </p:sp>
      <p:sp>
        <p:nvSpPr>
          <p:cNvPr id="3" name="Subtitle 2"/>
          <p:cNvSpPr>
            <a:spLocks noGrp="1"/>
          </p:cNvSpPr>
          <p:nvPr>
            <p:ph type="subTitle" idx="1"/>
          </p:nvPr>
        </p:nvSpPr>
        <p:spPr>
          <a:xfrm>
            <a:off x="-106326" y="2775901"/>
            <a:ext cx="3803594" cy="1468671"/>
          </a:xfrm>
        </p:spPr>
        <p:txBody>
          <a:bodyPr>
            <a:normAutofit/>
          </a:bodyPr>
          <a:lstStyle/>
          <a:p>
            <a:r>
              <a:rPr lang="en-US" b="1" dirty="0">
                <a:solidFill>
                  <a:srgbClr val="FF0000"/>
                </a:solidFill>
              </a:rPr>
              <a:t>Supervisor</a:t>
            </a:r>
            <a:endParaRPr lang="en-US" b="1" dirty="0">
              <a:solidFill>
                <a:srgbClr val="FF0000"/>
              </a:solidFill>
            </a:endParaRPr>
          </a:p>
          <a:p>
            <a:r>
              <a:rPr lang="en-US" dirty="0">
                <a:solidFill>
                  <a:schemeClr val="tx1"/>
                </a:solidFill>
              </a:rPr>
              <a:t>Dr. Sandhyalati Behera</a:t>
            </a:r>
            <a:endParaRPr lang="en-US" dirty="0">
              <a:solidFill>
                <a:schemeClr val="tx1"/>
              </a:solidFill>
            </a:endParaRPr>
          </a:p>
        </p:txBody>
      </p:sp>
      <p:sp>
        <p:nvSpPr>
          <p:cNvPr id="4" name="Subtitle 2"/>
          <p:cNvSpPr txBox="1"/>
          <p:nvPr/>
        </p:nvSpPr>
        <p:spPr>
          <a:xfrm>
            <a:off x="5554337" y="2367671"/>
            <a:ext cx="3154680" cy="2295144"/>
          </a:xfrm>
          <a:prstGeom prst="rect">
            <a:avLst/>
          </a:prstGeom>
        </p:spPr>
        <p:txBody>
          <a:bodyPr vert="horz" lIns="91440" tIns="45720" rIns="91440" bIns="45720" rtlCol="0">
            <a:normAutofit fontScale="9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accent5">
                    <a:lumMod val="75000"/>
                  </a:schemeClr>
                </a:solidFill>
                <a:latin typeface="Book Antiqua" panose="02040602050305030304" pitchFamily="18"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accent5">
                    <a:lumMod val="75000"/>
                  </a:schemeClr>
                </a:solidFill>
                <a:latin typeface="Book Antiqua" panose="02040602050305030304" pitchFamily="18"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5">
                    <a:lumMod val="75000"/>
                  </a:schemeClr>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rgbClr val="FF0000"/>
                </a:solidFill>
              </a:rPr>
              <a:t>Presented by</a:t>
            </a:r>
            <a:endParaRPr lang="en-US" b="1" dirty="0">
              <a:solidFill>
                <a:srgbClr val="FF0000"/>
              </a:solidFill>
            </a:endParaRPr>
          </a:p>
          <a:p>
            <a:r>
              <a:rPr lang="en-US" dirty="0">
                <a:solidFill>
                  <a:schemeClr val="tx1"/>
                </a:solidFill>
              </a:rPr>
              <a:t>Mr.</a:t>
            </a:r>
            <a:r>
              <a:rPr lang="en-IN" altLang="en-US" dirty="0">
                <a:solidFill>
                  <a:schemeClr val="tx1"/>
                </a:solidFill>
              </a:rPr>
              <a:t> Anirban Chatterjee</a:t>
            </a:r>
            <a:endParaRPr lang="en-US" dirty="0">
              <a:solidFill>
                <a:schemeClr val="tx1"/>
              </a:solidFill>
            </a:endParaRPr>
          </a:p>
          <a:p>
            <a:r>
              <a:rPr lang="en-US" dirty="0">
                <a:solidFill>
                  <a:schemeClr val="tx1"/>
                </a:solidFill>
              </a:rPr>
              <a:t>Mr.</a:t>
            </a:r>
            <a:r>
              <a:rPr lang="en-IN" altLang="en-US" dirty="0">
                <a:solidFill>
                  <a:schemeClr val="tx1"/>
                </a:solidFill>
              </a:rPr>
              <a:t>Suayush Kumar Das</a:t>
            </a:r>
            <a:endParaRPr lang="en-US" dirty="0">
              <a:solidFill>
                <a:schemeClr val="tx1"/>
              </a:solidFill>
            </a:endParaRPr>
          </a:p>
          <a:p>
            <a:r>
              <a:rPr lang="en-US" dirty="0">
                <a:solidFill>
                  <a:schemeClr val="tx1"/>
                </a:solidFill>
              </a:rPr>
              <a:t>Mr.</a:t>
            </a:r>
            <a:r>
              <a:rPr lang="en-IN" altLang="en-US" dirty="0">
                <a:solidFill>
                  <a:schemeClr val="tx1"/>
                </a:solidFill>
              </a:rPr>
              <a:t>Chandra Sekhar Acharya</a:t>
            </a:r>
            <a:endParaRPr lang="en-US" dirty="0">
              <a:solidFill>
                <a:schemeClr val="tx1"/>
              </a:solidFill>
            </a:endParaRPr>
          </a:p>
          <a:p>
            <a:endParaRPr lang="en-US" dirty="0">
              <a:solidFill>
                <a:schemeClr val="tx1"/>
              </a:solidFill>
            </a:endParaRPr>
          </a:p>
          <a:p>
            <a:endParaRPr lang="en-US" dirty="0">
              <a:solidFill>
                <a:schemeClr val="tx1"/>
              </a:solidFill>
            </a:endParaRPr>
          </a:p>
        </p:txBody>
      </p:sp>
      <p:pic>
        <p:nvPicPr>
          <p:cNvPr id="5" name="Picture"/>
          <p:cNvPicPr/>
          <p:nvPr/>
        </p:nvPicPr>
        <p:blipFill>
          <a:blip r:embed="rId1" cstate="print">
            <a:extLst>
              <a:ext uri="{28A0092B-C50C-407E-A947-70E740481C1C}">
                <a14:useLocalDpi xmlns:a14="http://schemas.microsoft.com/office/drawing/2010/main" val="0"/>
              </a:ext>
            </a:extLst>
          </a:blip>
          <a:stretch>
            <a:fillRect/>
          </a:stretch>
        </p:blipFill>
        <p:spPr bwMode="auto">
          <a:xfrm>
            <a:off x="3657527" y="2586628"/>
            <a:ext cx="1847850" cy="1847215"/>
          </a:xfrm>
          <a:prstGeom prst="rect">
            <a:avLst/>
          </a:prstGeom>
          <a:noFill/>
          <a:ln w="9525">
            <a:noFill/>
            <a:miter lim="800000"/>
            <a:headEnd/>
            <a:tailEnd/>
          </a:ln>
        </p:spPr>
      </p:pic>
      <p:sp>
        <p:nvSpPr>
          <p:cNvPr id="6" name="Subtitle 2"/>
          <p:cNvSpPr txBox="1"/>
          <p:nvPr/>
        </p:nvSpPr>
        <p:spPr>
          <a:xfrm>
            <a:off x="265176" y="5175503"/>
            <a:ext cx="8409432" cy="114757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accent5">
                    <a:lumMod val="75000"/>
                  </a:schemeClr>
                </a:solidFill>
                <a:latin typeface="Book Antiqua" panose="02040602050305030304" pitchFamily="18"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accent5">
                    <a:lumMod val="75000"/>
                  </a:schemeClr>
                </a:solidFill>
                <a:latin typeface="Book Antiqua" panose="02040602050305030304" pitchFamily="18"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5">
                    <a:lumMod val="75000"/>
                  </a:schemeClr>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7" name="Title 1"/>
          <p:cNvSpPr txBox="1"/>
          <p:nvPr/>
        </p:nvSpPr>
        <p:spPr>
          <a:xfrm>
            <a:off x="265176" y="4782311"/>
            <a:ext cx="8641080" cy="1830863"/>
          </a:xfrm>
          <a:prstGeom prst="round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a:bodyPr>
          <a:lstStyle>
            <a:lvl1pPr algn="ctr" defTabSz="914400">
              <a:lnSpc>
                <a:spcPct val="90000"/>
              </a:lnSpc>
              <a:spcBef>
                <a:spcPct val="0"/>
              </a:spcBef>
              <a:buNone/>
              <a:defRPr sz="3200" b="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000" dirty="0">
                <a:cs typeface="Leelawadee" panose="020B0502040204020203"/>
              </a:rPr>
              <a:t>Department of Electronics and Communication Engineering</a:t>
            </a:r>
            <a:endParaRPr lang="en-US" sz="2000" dirty="0">
              <a:cs typeface="Leelawadee" panose="020B0502040204020203"/>
            </a:endParaRPr>
          </a:p>
          <a:p>
            <a:r>
              <a:rPr lang="en-US" sz="2400" b="1" dirty="0">
                <a:cs typeface="Leelawadee" panose="020B0502040204020203"/>
              </a:rPr>
              <a:t>Institute of Technical Education &amp; Research (FET)</a:t>
            </a:r>
            <a:endParaRPr lang="en-US" sz="2400" b="1" dirty="0">
              <a:cs typeface="Leelawadee" panose="020B0502040204020203"/>
            </a:endParaRPr>
          </a:p>
          <a:p>
            <a:endParaRPr lang="en-US" sz="2400" dirty="0">
              <a:cs typeface="Leelawadee" panose="020B0502040204020203"/>
            </a:endParaRPr>
          </a:p>
          <a:p>
            <a:r>
              <a:rPr lang="en-US" sz="2400" b="1" dirty="0">
                <a:cs typeface="Leelawadee" panose="020B0502040204020203"/>
              </a:rPr>
              <a:t>Siksha ‘O’ Anusandhan Deemed to be University, Bhubaneswar</a:t>
            </a:r>
            <a:endParaRPr lang="en-US" sz="2400" b="1" dirty="0">
              <a:cs typeface="Leelawadee" panose="020B050204020402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Contents</a:t>
            </a:r>
            <a:endParaRPr lang="en-IN" dirty="0"/>
          </a:p>
        </p:txBody>
      </p:sp>
      <p:sp>
        <p:nvSpPr>
          <p:cNvPr id="3" name="Content Placeholder 2"/>
          <p:cNvSpPr>
            <a:spLocks noGrp="1"/>
          </p:cNvSpPr>
          <p:nvPr>
            <p:ph idx="1"/>
          </p:nvPr>
        </p:nvSpPr>
        <p:spPr/>
        <p:txBody>
          <a:bodyPr>
            <a:normAutofit/>
          </a:bodyPr>
          <a:lstStyle/>
          <a:p>
            <a:r>
              <a:rPr lang="en-US" sz="2400" dirty="0">
                <a:cs typeface="Leelawadee" panose="020B0502040204020203"/>
              </a:rPr>
              <a:t>Introduction	</a:t>
            </a:r>
            <a:endParaRPr lang="en-US" sz="2400" dirty="0">
              <a:cs typeface="Leelawadee" panose="020B0502040204020203"/>
            </a:endParaRPr>
          </a:p>
          <a:p>
            <a:r>
              <a:rPr lang="en-US" sz="2400" dirty="0">
                <a:cs typeface="Leelawadee" panose="020B0502040204020203"/>
              </a:rPr>
              <a:t>Literature Survey	</a:t>
            </a:r>
            <a:endParaRPr lang="en-US" sz="2400" dirty="0">
              <a:cs typeface="Leelawadee" panose="020B0502040204020203"/>
            </a:endParaRPr>
          </a:p>
          <a:p>
            <a:r>
              <a:rPr lang="en-US" sz="2400" dirty="0">
                <a:cs typeface="Leelawadee" panose="020B0502040204020203"/>
              </a:rPr>
              <a:t>Design Scheme	</a:t>
            </a:r>
            <a:endParaRPr lang="en-US" sz="2400" dirty="0">
              <a:cs typeface="Leelawadee" panose="020B0502040204020203"/>
            </a:endParaRPr>
          </a:p>
          <a:p>
            <a:r>
              <a:rPr lang="en-US" sz="2400" dirty="0">
                <a:cs typeface="Leelawadee" panose="020B0502040204020203"/>
              </a:rPr>
              <a:t>Testing, Analysis, And Evaluation	</a:t>
            </a:r>
            <a:endParaRPr lang="en-US" sz="2400" dirty="0">
              <a:cs typeface="Leelawadee" panose="020B0502040204020203"/>
            </a:endParaRPr>
          </a:p>
          <a:p>
            <a:r>
              <a:rPr lang="en-US" sz="2400" dirty="0">
                <a:cs typeface="Leelawadee" panose="020B0502040204020203"/>
              </a:rPr>
              <a:t>Socio-economic Issues Associated With The Project</a:t>
            </a:r>
            <a:endParaRPr lang="en-US" sz="2400" dirty="0">
              <a:cs typeface="Leelawadee" panose="020B0502040204020203"/>
            </a:endParaRPr>
          </a:p>
          <a:p>
            <a:r>
              <a:rPr lang="en-US" sz="2400" dirty="0">
                <a:cs typeface="Leelawadee" panose="020B0502040204020203"/>
              </a:rPr>
              <a:t>Engineering Tools And Standards	</a:t>
            </a:r>
            <a:endParaRPr lang="en-US" sz="2400" dirty="0">
              <a:cs typeface="Leelawadee" panose="020B0502040204020203"/>
            </a:endParaRPr>
          </a:p>
          <a:p>
            <a:r>
              <a:rPr lang="en-US" sz="2400" dirty="0">
                <a:cs typeface="Leelawadee" panose="020B0502040204020203"/>
              </a:rPr>
              <a:t>Conclusion</a:t>
            </a:r>
            <a:endParaRPr lang="en-US" sz="2400" dirty="0">
              <a:cs typeface="Leelawadee" panose="020B0502040204020203"/>
            </a:endParaRPr>
          </a:p>
          <a:p>
            <a:endParaRPr lang="en-IN" dirty="0"/>
          </a:p>
        </p:txBody>
      </p:sp>
      <p:sp>
        <p:nvSpPr>
          <p:cNvPr id="4" name="Date Placeholder 3"/>
          <p:cNvSpPr>
            <a:spLocks noGrp="1"/>
          </p:cNvSpPr>
          <p:nvPr>
            <p:ph type="dt" sz="half" idx="10"/>
          </p:nvPr>
        </p:nvSpPr>
        <p:spPr/>
        <p:txBody>
          <a:bodyPr/>
          <a:lstStyle/>
          <a:p>
            <a:fld id="{0B1DAA84-F85C-4617-A1EC-E732260831FD}" type="datetime1">
              <a:rPr lang="en-IN" smtClean="0"/>
            </a:fld>
            <a:endParaRPr lang="en-IN" dirty="0"/>
          </a:p>
        </p:txBody>
      </p:sp>
      <p:sp>
        <p:nvSpPr>
          <p:cNvPr id="5" name="Footer Placeholder 4"/>
          <p:cNvSpPr>
            <a:spLocks noGrp="1"/>
          </p:cNvSpPr>
          <p:nvPr>
            <p:ph type="ftr" sz="quarter" idx="11"/>
          </p:nvPr>
        </p:nvSpPr>
        <p:spPr/>
        <p:txBody>
          <a:bodyPr/>
          <a:lstStyle/>
          <a:p>
            <a:r>
              <a:rPr lang="en-US" dirty="0"/>
              <a:t>CONTENTS</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Introduction	</a:t>
            </a:r>
            <a:endParaRPr lang="en-IN" dirty="0"/>
          </a:p>
        </p:txBody>
      </p:sp>
      <p:sp>
        <p:nvSpPr>
          <p:cNvPr id="3" name="Content Placeholder 2"/>
          <p:cNvSpPr>
            <a:spLocks noGrp="1"/>
          </p:cNvSpPr>
          <p:nvPr>
            <p:ph idx="1"/>
          </p:nvPr>
        </p:nvSpPr>
        <p:spPr/>
        <p:txBody>
          <a:bodyPr>
            <a:normAutofit/>
          </a:bodyPr>
          <a:lstStyle/>
          <a:p>
            <a:pPr marL="0" indent="0">
              <a:lnSpc>
                <a:spcPct val="120000"/>
              </a:lnSpc>
              <a:buNone/>
            </a:pPr>
            <a:r>
              <a:rPr lang="en-GB" sz="2000" dirty="0"/>
              <a:t>Water scarcity and inefficient irrigation practices pose significant challenges in agriculture and household gardening. Manual watering often leads to overwatering or underwatering, resulting in poor plant health and unnecessary wastage of water. With the advancement of embedded systems and sensor technology, automated irrigation solutions have become more efficient and reliable. This project focuses on the design and implementation of an Arduino-based Automatic Plant Watering System that continuously monitors soil moisture, temperature, humidity, and water tank level. Based on real-time sensor data, the system automatically controls a water pump to supply water only when required. An LCD displays live system status, while a buzzer and LED provide audio-visual alerts. The proposed system aims to reduce human intervention, ensure optimal plant growth, and promote efficient utilization of water resources.</a:t>
            </a:r>
            <a:endParaRPr lang="en-IN" sz="2000" dirty="0"/>
          </a:p>
        </p:txBody>
      </p:sp>
      <p:sp>
        <p:nvSpPr>
          <p:cNvPr id="4" name="Date Placeholder 3"/>
          <p:cNvSpPr>
            <a:spLocks noGrp="1"/>
          </p:cNvSpPr>
          <p:nvPr>
            <p:ph type="dt" sz="half" idx="10"/>
          </p:nvPr>
        </p:nvSpPr>
        <p:spPr/>
        <p:txBody>
          <a:bodyPr/>
          <a:lstStyle/>
          <a:p>
            <a:fld id="{F96ED9C6-6521-4398-A7DC-DB682660407D}" type="datetime1">
              <a:rPr lang="en-IN" smtClean="0"/>
            </a:fld>
            <a:endParaRPr lang="en-IN"/>
          </a:p>
        </p:txBody>
      </p:sp>
      <p:sp>
        <p:nvSpPr>
          <p:cNvPr id="5" name="Footer Placeholder 4"/>
          <p:cNvSpPr>
            <a:spLocks noGrp="1"/>
          </p:cNvSpPr>
          <p:nvPr>
            <p:ph type="ftr" sz="quarter" idx="11"/>
          </p:nvPr>
        </p:nvSpPr>
        <p:spPr/>
        <p:txBody>
          <a:bodyPr/>
          <a:lstStyle/>
          <a:p>
            <a:r>
              <a:rPr lang="en-US" dirty="0"/>
              <a:t>INTRODUCTION</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Literature Survey	</a:t>
            </a:r>
            <a:endParaRPr lang="en-IN" dirty="0"/>
          </a:p>
        </p:txBody>
      </p:sp>
      <p:sp>
        <p:nvSpPr>
          <p:cNvPr id="3" name="Content Placeholder 2"/>
          <p:cNvSpPr>
            <a:spLocks noGrp="1"/>
          </p:cNvSpPr>
          <p:nvPr>
            <p:ph idx="1"/>
          </p:nvPr>
        </p:nvSpPr>
        <p:spPr/>
        <p:txBody>
          <a:bodyPr>
            <a:normAutofit fontScale="70000" lnSpcReduction="20000"/>
          </a:bodyPr>
          <a:lstStyle/>
          <a:p>
            <a:pPr>
              <a:lnSpc>
                <a:spcPct val="120000"/>
              </a:lnSpc>
            </a:pPr>
            <a:r>
              <a:rPr lang="en-US" dirty="0">
                <a:cs typeface="Leelawadee" panose="020B0502040204020203"/>
              </a:rPr>
              <a:t>Various automatic irrigation systems have been proposed using microcontrollers and sensors. Traditional timer-based irrigation systems lack adaptability to environmental conditions, often leading to water wastage. Sensor-based irrigation techniques using soil moisture sensors have shown improved efficiency by watering plants only when soil moisture falls below a threshold.</a:t>
            </a:r>
            <a:endParaRPr lang="en-US" dirty="0">
              <a:cs typeface="Leelawadee" panose="020B0502040204020203"/>
            </a:endParaRPr>
          </a:p>
          <a:p>
            <a:pPr>
              <a:lnSpc>
                <a:spcPct val="120000"/>
              </a:lnSpc>
            </a:pPr>
            <a:r>
              <a:rPr lang="en-US" dirty="0">
                <a:cs typeface="Leelawadee" panose="020B0502040204020203"/>
              </a:rPr>
              <a:t>Previous studies have incorporated temperature and humidity sensors such as DHT series sensors to monitor climatic conditions. Ultrasonic sensors have also been used for water level detection in storage tanks to prevent dry running of pumps. Recent implementations focus on low-cost, </a:t>
            </a:r>
            <a:r>
              <a:rPr lang="en-US" dirty="0" err="1">
                <a:cs typeface="Leelawadee" panose="020B0502040204020203"/>
              </a:rPr>
              <a:t>Arduino</a:t>
            </a:r>
            <a:r>
              <a:rPr lang="en-US" dirty="0">
                <a:cs typeface="Leelawadee" panose="020B0502040204020203"/>
              </a:rPr>
              <a:t>-based systems suitable for small-scale agricultural and domestic applications.</a:t>
            </a:r>
            <a:endParaRPr lang="en-US" dirty="0">
              <a:cs typeface="Leelawadee" panose="020B0502040204020203"/>
            </a:endParaRPr>
          </a:p>
          <a:p>
            <a:pPr>
              <a:lnSpc>
                <a:spcPct val="120000"/>
              </a:lnSpc>
            </a:pPr>
            <a:r>
              <a:rPr lang="en-US" dirty="0">
                <a:cs typeface="Leelawadee" panose="020B0502040204020203"/>
              </a:rPr>
              <a:t>Based on the literature, integrating multiple sensors with real-time monitoring and automated control provides a reliable and efficient irrigation solution, which forms the foundation of this project.</a:t>
            </a:r>
            <a:endParaRPr lang="en-US" dirty="0">
              <a:cs typeface="Leelawadee" panose="020B0502040204020203"/>
            </a:endParaRPr>
          </a:p>
          <a:p>
            <a:pPr>
              <a:lnSpc>
                <a:spcPct val="120000"/>
              </a:lnSpc>
            </a:pPr>
            <a:endParaRPr lang="en-IN" dirty="0"/>
          </a:p>
        </p:txBody>
      </p:sp>
      <p:sp>
        <p:nvSpPr>
          <p:cNvPr id="4" name="Date Placeholder 3"/>
          <p:cNvSpPr>
            <a:spLocks noGrp="1"/>
          </p:cNvSpPr>
          <p:nvPr>
            <p:ph type="dt" sz="half" idx="10"/>
          </p:nvPr>
        </p:nvSpPr>
        <p:spPr/>
        <p:txBody>
          <a:bodyPr/>
          <a:lstStyle/>
          <a:p>
            <a:fld id="{C06AB7E8-BBD7-4FE9-80F4-3C999F840AFA}" type="datetime1">
              <a:rPr lang="en-IN" smtClean="0"/>
            </a:fld>
            <a:endParaRPr lang="en-IN"/>
          </a:p>
        </p:txBody>
      </p:sp>
      <p:sp>
        <p:nvSpPr>
          <p:cNvPr id="5" name="Footer Placeholder 4"/>
          <p:cNvSpPr>
            <a:spLocks noGrp="1"/>
          </p:cNvSpPr>
          <p:nvPr>
            <p:ph type="ftr" sz="quarter" idx="11"/>
          </p:nvPr>
        </p:nvSpPr>
        <p:spPr/>
        <p:txBody>
          <a:bodyPr/>
          <a:lstStyle/>
          <a:p>
            <a:r>
              <a:rPr lang="en-US" dirty="0"/>
              <a:t>LITERATURE SURVEY</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Scheme	</a:t>
            </a:r>
            <a:endParaRPr lang="en-IN" dirty="0"/>
          </a:p>
        </p:txBody>
      </p:sp>
      <p:sp>
        <p:nvSpPr>
          <p:cNvPr id="3" name="Content Placeholder 2"/>
          <p:cNvSpPr>
            <a:spLocks noGrp="1"/>
          </p:cNvSpPr>
          <p:nvPr>
            <p:ph idx="1"/>
          </p:nvPr>
        </p:nvSpPr>
        <p:spPr/>
        <p:txBody>
          <a:bodyPr>
            <a:normAutofit/>
          </a:bodyPr>
          <a:lstStyle/>
          <a:p>
            <a:pPr>
              <a:lnSpc>
                <a:spcPct val="100000"/>
              </a:lnSpc>
            </a:pPr>
            <a:r>
              <a:rPr lang="en-US" sz="2000" dirty="0">
                <a:cs typeface="Leelawadee" panose="020B0502040204020203"/>
              </a:rPr>
              <a:t>The system is designed around an </a:t>
            </a:r>
            <a:r>
              <a:rPr lang="en-US" sz="2000" b="1" dirty="0" err="1">
                <a:cs typeface="Leelawadee" panose="020B0502040204020203"/>
              </a:rPr>
              <a:t>Arduino</a:t>
            </a:r>
            <a:r>
              <a:rPr lang="en-US" sz="2000" b="1" dirty="0">
                <a:cs typeface="Leelawadee" panose="020B0502040204020203"/>
              </a:rPr>
              <a:t> UNO</a:t>
            </a:r>
            <a:r>
              <a:rPr lang="en-US" sz="2000" dirty="0">
                <a:cs typeface="Leelawadee" panose="020B0502040204020203"/>
              </a:rPr>
              <a:t> microcontroller. Soil moisture sensor, DHT sensor, and ultrasonic sensor act as input devices. The soil moisture sensor measures water content in soil, while the DHT sensor monitors temperature and humidity. The ultrasonic sensor measures the water level in the tank.</a:t>
            </a:r>
            <a:endParaRPr lang="en-US" sz="2000" dirty="0">
              <a:cs typeface="Leelawadee" panose="020B0502040204020203"/>
            </a:endParaRPr>
          </a:p>
          <a:p>
            <a:pPr>
              <a:lnSpc>
                <a:spcPct val="100000"/>
              </a:lnSpc>
            </a:pPr>
            <a:r>
              <a:rPr lang="en-US" sz="2000" dirty="0">
                <a:cs typeface="Leelawadee" panose="020B0502040204020203"/>
              </a:rPr>
              <a:t>Based on sensor inputs, the </a:t>
            </a:r>
            <a:r>
              <a:rPr lang="en-US" sz="2000" dirty="0" err="1">
                <a:cs typeface="Leelawadee" panose="020B0502040204020203"/>
              </a:rPr>
              <a:t>Arduino</a:t>
            </a:r>
            <a:r>
              <a:rPr lang="en-US" sz="2000" dirty="0">
                <a:cs typeface="Leelawadee" panose="020B0502040204020203"/>
              </a:rPr>
              <a:t> processes data and controls output devices such as a relay-controlled water pump, LCD display, LED indicator, and buzzer. The relay isolates the low-power control circuit from the high-power pump circuit, ensuring electrical safety.</a:t>
            </a:r>
            <a:endParaRPr lang="en-US" sz="2000" dirty="0">
              <a:cs typeface="Leelawadee" panose="020B0502040204020203"/>
            </a:endParaRPr>
          </a:p>
          <a:p>
            <a:pPr>
              <a:lnSpc>
                <a:spcPct val="100000"/>
              </a:lnSpc>
            </a:pPr>
            <a:r>
              <a:rPr lang="en-US" sz="2000" dirty="0">
                <a:cs typeface="Leelawadee" panose="020B0502040204020203"/>
              </a:rPr>
              <a:t>The design ensures automatic operation, safety against water shortage, and user-friendly monitoring through visual and audio feedback.</a:t>
            </a:r>
            <a:endParaRPr lang="en-US" sz="2000" dirty="0">
              <a:cs typeface="Leelawadee" panose="020B0502040204020203"/>
            </a:endParaRPr>
          </a:p>
          <a:p>
            <a:pPr>
              <a:lnSpc>
                <a:spcPct val="100000"/>
              </a:lnSpc>
            </a:pPr>
            <a:endParaRPr lang="en-IN" dirty="0"/>
          </a:p>
        </p:txBody>
      </p:sp>
      <p:sp>
        <p:nvSpPr>
          <p:cNvPr id="4" name="Date Placeholder 3"/>
          <p:cNvSpPr>
            <a:spLocks noGrp="1"/>
          </p:cNvSpPr>
          <p:nvPr>
            <p:ph type="dt" sz="half" idx="10"/>
          </p:nvPr>
        </p:nvSpPr>
        <p:spPr/>
        <p:txBody>
          <a:bodyPr/>
          <a:lstStyle/>
          <a:p>
            <a:fld id="{99A6435B-86FB-4477-9359-4E079732371F}" type="datetime1">
              <a:rPr lang="en-IN" smtClean="0"/>
            </a:fld>
            <a:endParaRPr lang="en-IN"/>
          </a:p>
        </p:txBody>
      </p:sp>
      <p:sp>
        <p:nvSpPr>
          <p:cNvPr id="5" name="Footer Placeholder 4"/>
          <p:cNvSpPr>
            <a:spLocks noGrp="1"/>
          </p:cNvSpPr>
          <p:nvPr>
            <p:ph type="ftr" sz="quarter" idx="11"/>
          </p:nvPr>
        </p:nvSpPr>
        <p:spPr/>
        <p:txBody>
          <a:bodyPr/>
          <a:lstStyle/>
          <a:p>
            <a:r>
              <a:rPr lang="en-US" dirty="0"/>
              <a:t>DESIGN SCHEME</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altLang="en-US"/>
              <a:t>Design Scheme</a:t>
            </a:r>
            <a:endParaRPr lang="en-IN" altLang="en-US"/>
          </a:p>
        </p:txBody>
      </p:sp>
      <p:sp>
        <p:nvSpPr>
          <p:cNvPr id="3" name="Content Placeholder 2"/>
          <p:cNvSpPr>
            <a:spLocks noGrp="1"/>
          </p:cNvSpPr>
          <p:nvPr>
            <p:ph idx="1"/>
          </p:nvPr>
        </p:nvSpPr>
        <p:spPr>
          <a:xfrm>
            <a:off x="170916" y="1010097"/>
            <a:ext cx="8785077" cy="5195843"/>
          </a:xfrm>
        </p:spPr>
        <p:txBody>
          <a:bodyPr>
            <a:normAutofit/>
          </a:bodyPr>
          <a:lstStyle/>
          <a:p>
            <a:pPr marL="0" indent="0">
              <a:buNone/>
            </a:pPr>
            <a:r>
              <a:rPr lang="en-IN" altLang="en-US" sz="2000" u="sng" dirty="0"/>
              <a:t>Working Principle</a:t>
            </a:r>
            <a:endParaRPr lang="en-IN" altLang="en-US" sz="2000" u="sng" dirty="0"/>
          </a:p>
          <a:p>
            <a:r>
              <a:rPr lang="en-US" altLang="en-US" sz="2000" dirty="0"/>
              <a:t>The system continuously monitors soil moisture, temperature, humidity, and water tank level.</a:t>
            </a:r>
            <a:endParaRPr lang="en-US" altLang="en-US" sz="2000" dirty="0"/>
          </a:p>
          <a:p>
            <a:r>
              <a:rPr lang="en-US" altLang="en-US" sz="2000" dirty="0"/>
              <a:t>Sensor data is processed by the Arduino Uno to determine irrigation requirements.</a:t>
            </a:r>
            <a:endParaRPr lang="en-US" altLang="en-US" sz="2000" dirty="0"/>
          </a:p>
          <a:p>
            <a:r>
              <a:rPr lang="en-US" altLang="en-US" sz="2000" dirty="0"/>
              <a:t>When soil moisture falls below the defined threshold (60%), the relay activates the water pump.</a:t>
            </a:r>
            <a:endParaRPr lang="en-US" altLang="en-US" sz="2000" dirty="0"/>
          </a:p>
          <a:p>
            <a:r>
              <a:rPr lang="en-US" altLang="en-US" sz="2000" dirty="0"/>
              <a:t>Once sufficient moisture is achieved, watering stops automatically and an alert is generated.</a:t>
            </a:r>
            <a:endParaRPr lang="en-US" altLang="en-US" sz="2000" dirty="0"/>
          </a:p>
          <a:p>
            <a:r>
              <a:rPr lang="en-US" altLang="en-US" sz="2000" dirty="0"/>
              <a:t>The LCD provides real-time system status and sensor readings.</a:t>
            </a:r>
            <a:endParaRPr lang="en-US" altLang="en-US" sz="2000" dirty="0"/>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a:t>DESIGN SCHEME</a:t>
            </a:r>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altLang="en-US"/>
              <a:t>Design Scheme</a:t>
            </a:r>
            <a:endParaRPr lang="en-IN" altLang="en-US"/>
          </a:p>
        </p:txBody>
      </p:sp>
      <p:sp>
        <p:nvSpPr>
          <p:cNvPr id="3" name="Content Placeholder 2"/>
          <p:cNvSpPr>
            <a:spLocks noGrp="1"/>
          </p:cNvSpPr>
          <p:nvPr>
            <p:ph idx="1"/>
          </p:nvPr>
        </p:nvSpPr>
        <p:spPr/>
        <p:txBody>
          <a:bodyPr/>
          <a:lstStyle/>
          <a:p>
            <a:pPr marL="0" indent="0">
              <a:buNone/>
            </a:pPr>
            <a:r>
              <a:rPr lang="en-IN" altLang="en-US" u="sng"/>
              <a:t>Flow Chart</a:t>
            </a:r>
            <a:endParaRPr lang="en-IN" altLang="en-US" u="sng"/>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a:t>DESIGN SCHEME</a:t>
            </a:r>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pic>
        <p:nvPicPr>
          <p:cNvPr id="7" name="Picture 6" descr="START"/>
          <p:cNvPicPr>
            <a:picLocks noChangeAspect="1"/>
          </p:cNvPicPr>
          <p:nvPr/>
        </p:nvPicPr>
        <p:blipFill>
          <a:blip r:embed="rId1"/>
          <a:stretch>
            <a:fillRect/>
          </a:stretch>
        </p:blipFill>
        <p:spPr>
          <a:xfrm>
            <a:off x="279400" y="1515110"/>
            <a:ext cx="7974330" cy="4485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altLang="en-US"/>
              <a:t>Design Scheme</a:t>
            </a:r>
            <a:endParaRPr lang="en-IN" altLang="en-US"/>
          </a:p>
        </p:txBody>
      </p:sp>
      <p:sp>
        <p:nvSpPr>
          <p:cNvPr id="3" name="Content Placeholder 2"/>
          <p:cNvSpPr>
            <a:spLocks noGrp="1"/>
          </p:cNvSpPr>
          <p:nvPr>
            <p:ph idx="1"/>
          </p:nvPr>
        </p:nvSpPr>
        <p:spPr/>
        <p:txBody>
          <a:bodyPr>
            <a:normAutofit fontScale="87500" lnSpcReduction="10000"/>
          </a:bodyPr>
          <a:lstStyle/>
          <a:p>
            <a:pPr marL="0" indent="0">
              <a:buNone/>
            </a:pPr>
            <a:r>
              <a:rPr lang="en-IN" altLang="en-US" u="sng" dirty="0"/>
              <a:t>Block Diagram</a:t>
            </a:r>
            <a:endParaRPr lang="en-IN" altLang="en-US" u="sng" dirty="0"/>
          </a:p>
          <a:p>
            <a:pPr marL="0" indent="0">
              <a:buNone/>
            </a:pPr>
            <a:endParaRPr lang="en-IN" altLang="en-US" u="sng" dirty="0"/>
          </a:p>
          <a:p>
            <a:pPr marL="0" indent="0">
              <a:buNone/>
            </a:pPr>
            <a:endParaRPr lang="en-IN" altLang="en-US" u="sng" dirty="0"/>
          </a:p>
          <a:p>
            <a:pPr marL="0" indent="0">
              <a:buNone/>
            </a:pPr>
            <a:endParaRPr lang="en-IN" altLang="en-US" u="sng" dirty="0"/>
          </a:p>
          <a:p>
            <a:pPr marL="0" indent="0">
              <a:buNone/>
            </a:pPr>
            <a:endParaRPr lang="en-IN" altLang="en-US" u="sng" dirty="0"/>
          </a:p>
          <a:p>
            <a:pPr marL="0" indent="0">
              <a:buNone/>
            </a:pPr>
            <a:endParaRPr lang="en-IN" altLang="en-US" u="sng" dirty="0"/>
          </a:p>
          <a:p>
            <a:pPr marL="514350" indent="-514350">
              <a:buAutoNum type="arabicPeriod"/>
            </a:pPr>
            <a:r>
              <a:rPr lang="en-IN" altLang="en-US" sz="2300" u="sng" dirty="0"/>
              <a:t>INPUT SENSORS</a:t>
            </a:r>
            <a:endParaRPr lang="en-IN" altLang="en-US" sz="2300" u="sng" dirty="0"/>
          </a:p>
          <a:p>
            <a:r>
              <a:rPr lang="en-US" altLang="en-US" sz="2300" dirty="0"/>
              <a:t>The soil moisture sensor measures the water content present in the soil.</a:t>
            </a:r>
            <a:endParaRPr lang="en-US" altLang="en-US" sz="2300" dirty="0"/>
          </a:p>
          <a:p>
            <a:r>
              <a:rPr lang="en-US" altLang="en-US" sz="2300" dirty="0"/>
              <a:t>The DHT22 sensor provides real-time temperature and humidity information.</a:t>
            </a:r>
            <a:endParaRPr lang="en-US" altLang="en-US" sz="2300" dirty="0"/>
          </a:p>
          <a:p>
            <a:r>
              <a:rPr lang="en-US" altLang="en-US" sz="2300" dirty="0"/>
              <a:t>The ultrasonic sensor measures the water level in the storage tank.</a:t>
            </a:r>
            <a:endParaRPr lang="en-US" altLang="en-US" sz="2300" dirty="0"/>
          </a:p>
          <a:p>
            <a:r>
              <a:rPr lang="en-US" altLang="en-US" sz="2300" dirty="0"/>
              <a:t>These sensors convert physical parameters into electrical signals for further processing.</a:t>
            </a:r>
            <a:endParaRPr lang="en-US" altLang="en-US" sz="2300" dirty="0"/>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a:t>DESIGN SCHEME</a:t>
            </a:r>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pic>
        <p:nvPicPr>
          <p:cNvPr id="7" name="Picture 6"/>
          <p:cNvPicPr>
            <a:picLocks noChangeAspect="1"/>
          </p:cNvPicPr>
          <p:nvPr/>
        </p:nvPicPr>
        <p:blipFill>
          <a:blip r:embed="rId1"/>
          <a:stretch>
            <a:fillRect/>
          </a:stretch>
        </p:blipFill>
        <p:spPr>
          <a:xfrm>
            <a:off x="321945" y="1732915"/>
            <a:ext cx="7299960" cy="1539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altLang="en-US"/>
              <a:t>Design Scheme</a:t>
            </a:r>
            <a:endParaRPr lang="en-IN" altLang="en-US"/>
          </a:p>
        </p:txBody>
      </p:sp>
      <p:sp>
        <p:nvSpPr>
          <p:cNvPr id="3" name="Content Placeholder 2"/>
          <p:cNvSpPr>
            <a:spLocks noGrp="1"/>
          </p:cNvSpPr>
          <p:nvPr>
            <p:ph idx="1"/>
          </p:nvPr>
        </p:nvSpPr>
        <p:spPr/>
        <p:txBody>
          <a:bodyPr>
            <a:normAutofit/>
          </a:bodyPr>
          <a:lstStyle/>
          <a:p>
            <a:pPr marL="0" indent="0">
              <a:buNone/>
            </a:pPr>
            <a:r>
              <a:rPr lang="en-IN" altLang="en-US" sz="1900"/>
              <a:t>2.</a:t>
            </a:r>
            <a:r>
              <a:rPr lang="en-IN" altLang="en-US" sz="1900" u="sng"/>
              <a:t>INTERFACE </a:t>
            </a:r>
            <a:endParaRPr lang="en-IN" altLang="en-US" sz="1900" u="sng"/>
          </a:p>
          <a:p>
            <a:r>
              <a:rPr lang="en-US" altLang="en-US" sz="1900"/>
              <a:t>The interface block acts as a bridge between the sensors and the microcontroller.</a:t>
            </a:r>
            <a:endParaRPr lang="en-US" altLang="en-US" sz="1900"/>
          </a:p>
          <a:p>
            <a:r>
              <a:rPr lang="en-US" altLang="en-US" sz="1900"/>
              <a:t>Analog sensor outputs are converted into digital values using the Arduino’s ADC.</a:t>
            </a:r>
            <a:endParaRPr lang="en-US" altLang="en-US" sz="1900"/>
          </a:p>
          <a:p>
            <a:r>
              <a:rPr lang="en-US" altLang="en-US" sz="1900"/>
              <a:t>Proper voltage levels and signal compatibility are ensured in this stage.</a:t>
            </a:r>
            <a:endParaRPr lang="en-US" altLang="en-US" sz="1900"/>
          </a:p>
          <a:p>
            <a:r>
              <a:rPr lang="en-US" altLang="en-US" sz="1900"/>
              <a:t>This block enables reliable data transfer to the processing unit.</a:t>
            </a:r>
            <a:endParaRPr lang="en-US" altLang="en-US" sz="1900"/>
          </a:p>
          <a:p>
            <a:pPr marL="0" indent="0">
              <a:buNone/>
            </a:pPr>
            <a:r>
              <a:rPr lang="en-IN" altLang="en-US" sz="1900" u="sng"/>
              <a:t>3.ARDUINO UNO</a:t>
            </a:r>
            <a:endParaRPr lang="en-IN" altLang="en-US" sz="1900" u="sng"/>
          </a:p>
          <a:p>
            <a:r>
              <a:rPr lang="en-US" altLang="en-US" sz="1900"/>
              <a:t>Arduino Uno functions as the central control and decision-making unit.</a:t>
            </a:r>
            <a:endParaRPr lang="en-US" altLang="en-US" sz="1900"/>
          </a:p>
          <a:p>
            <a:r>
              <a:rPr lang="en-US" altLang="en-US" sz="1900"/>
              <a:t>It continuously reads sensor data and executes the programmed control logic.</a:t>
            </a:r>
            <a:endParaRPr lang="en-US" altLang="en-US" sz="1900"/>
          </a:p>
          <a:p>
            <a:r>
              <a:rPr lang="en-US" altLang="en-US" sz="1900"/>
              <a:t>The microcontroller compares soil moisture values with a predefined threshold.</a:t>
            </a:r>
            <a:endParaRPr lang="en-US" altLang="en-US" sz="1900"/>
          </a:p>
          <a:p>
            <a:r>
              <a:rPr lang="en-US" altLang="en-US" sz="1900"/>
              <a:t>Based on the comparison, appropriate control signals are generated.</a:t>
            </a:r>
            <a:endParaRPr lang="en-US" altLang="en-US" sz="1900"/>
          </a:p>
          <a:p>
            <a:pPr marL="0" indent="0">
              <a:buNone/>
            </a:pPr>
            <a:endParaRPr lang="en-US" altLang="en-US" sz="1900"/>
          </a:p>
          <a:p>
            <a:endParaRPr lang="en-US" altLang="en-US" sz="1900" u="sng"/>
          </a:p>
          <a:p>
            <a:pPr marL="0" indent="0">
              <a:buNone/>
            </a:pPr>
            <a:endParaRPr lang="en-US" altLang="en-US" sz="1900" u="sng"/>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a:t>DESIGN SCHEME</a:t>
            </a:r>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altLang="en-US"/>
              <a:t>Design Scheme</a:t>
            </a:r>
            <a:endParaRPr lang="en-IN" altLang="en-US"/>
          </a:p>
        </p:txBody>
      </p:sp>
      <p:sp>
        <p:nvSpPr>
          <p:cNvPr id="3" name="Content Placeholder 2"/>
          <p:cNvSpPr>
            <a:spLocks noGrp="1"/>
          </p:cNvSpPr>
          <p:nvPr>
            <p:ph idx="1"/>
          </p:nvPr>
        </p:nvSpPr>
        <p:spPr/>
        <p:txBody>
          <a:bodyPr/>
          <a:lstStyle/>
          <a:p>
            <a:pPr marL="0" indent="0">
              <a:buNone/>
            </a:pPr>
            <a:r>
              <a:rPr lang="en-IN" altLang="en-US" sz="1900" u="sng"/>
              <a:t>4. OUTPUT</a:t>
            </a:r>
            <a:endParaRPr lang="en-IN" altLang="en-US" sz="1900" u="sng"/>
          </a:p>
          <a:p>
            <a:r>
              <a:rPr lang="en-US" altLang="en-US" sz="1900"/>
              <a:t>This block performs physical actions based on the control signals from Arduino.</a:t>
            </a:r>
            <a:endParaRPr lang="en-US" altLang="en-US" sz="1900"/>
          </a:p>
          <a:p>
            <a:r>
              <a:rPr lang="en-US" altLang="en-US" sz="1900"/>
              <a:t>The relay module controls the water pump to automate irrigation.</a:t>
            </a:r>
            <a:endParaRPr lang="en-US" altLang="en-US" sz="1900"/>
          </a:p>
          <a:p>
            <a:r>
              <a:rPr lang="en-US" altLang="en-US" sz="1900"/>
              <a:t>The buzzer provides audio alerts for system status and watering conditions.</a:t>
            </a:r>
            <a:endParaRPr lang="en-US" altLang="en-US" sz="1900"/>
          </a:p>
          <a:p>
            <a:r>
              <a:rPr lang="en-US" altLang="en-US" sz="1900"/>
              <a:t>The I2C LCD displays real-time sensor values and system messages.</a:t>
            </a:r>
            <a:endParaRPr lang="en-US" altLang="en-US" sz="1900"/>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a:t>DESIGN SCHEME</a:t>
            </a:r>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Scheme</a:t>
            </a:r>
            <a:endParaRPr lang="en-IN" dirty="0"/>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altLang="en-US" dirty="0"/>
              <a:t>DESIGN SCHEME</a:t>
            </a:r>
            <a:endParaRPr lang="en-IN" altLang="en-US"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pic>
        <p:nvPicPr>
          <p:cNvPr id="1028" name="Picture 4"/>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58775" y="1520735"/>
            <a:ext cx="8785225" cy="4483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2"/>
          <p:cNvSpPr txBox="1"/>
          <p:nvPr/>
        </p:nvSpPr>
        <p:spPr>
          <a:xfrm>
            <a:off x="403860" y="1083945"/>
            <a:ext cx="3048000" cy="368300"/>
          </a:xfrm>
          <a:prstGeom prst="rect">
            <a:avLst/>
          </a:prstGeom>
          <a:noFill/>
        </p:spPr>
        <p:txBody>
          <a:bodyPr wrap="square" rtlCol="0">
            <a:spAutoFit/>
          </a:bodyPr>
          <a:lstStyle/>
          <a:p>
            <a:r>
              <a:rPr lang="en-IN" altLang="en-US">
                <a:latin typeface="Book Antiqua" panose="02040602050305030304" pitchFamily="18" charset="0"/>
                <a:cs typeface="Book Antiqua" panose="02040602050305030304" pitchFamily="18" charset="0"/>
              </a:rPr>
              <a:t>SCHEMATIC</a:t>
            </a:r>
            <a:r>
              <a:rPr lang="en-IN" altLang="en-US"/>
              <a:t>:</a:t>
            </a:r>
            <a:endParaRPr lang="en-I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Scheme</a:t>
            </a:r>
            <a:endParaRPr lang="en-IN" dirty="0"/>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altLang="en-US" dirty="0"/>
              <a:t>DESIGN SCHEME</a:t>
            </a:r>
            <a:endParaRPr lang="en-IN" altLang="en-US"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36575" y="1347470"/>
            <a:ext cx="8086725" cy="4801870"/>
          </a:xfrm>
          <a:prstGeom prst="rect">
            <a:avLst/>
          </a:prstGeom>
        </p:spPr>
      </p:pic>
      <p:sp>
        <p:nvSpPr>
          <p:cNvPr id="3" name="Text Box 2"/>
          <p:cNvSpPr txBox="1"/>
          <p:nvPr/>
        </p:nvSpPr>
        <p:spPr>
          <a:xfrm>
            <a:off x="536575" y="979170"/>
            <a:ext cx="3048000" cy="368300"/>
          </a:xfrm>
          <a:prstGeom prst="rect">
            <a:avLst/>
          </a:prstGeom>
          <a:noFill/>
        </p:spPr>
        <p:txBody>
          <a:bodyPr wrap="square" rtlCol="0">
            <a:spAutoFit/>
          </a:bodyPr>
          <a:lstStyle/>
          <a:p>
            <a:r>
              <a:rPr lang="en-IN" altLang="en-US"/>
              <a:t>CIRCUIT:</a:t>
            </a:r>
            <a:endParaRPr lang="en-I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Scheme</a:t>
            </a:r>
            <a:endParaRPr lang="en-IN" dirty="0"/>
          </a:p>
        </p:txBody>
      </p:sp>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831098" y="1008063"/>
            <a:ext cx="7497679" cy="5195887"/>
          </a:xfrm>
        </p:spPr>
      </p:pic>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dirty="0"/>
              <a:t>DESIGN SCHEME</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a:t>
            </a:r>
            <a:r>
              <a:rPr lang="en-IN" altLang="en-US" dirty="0"/>
              <a:t>Scheme</a:t>
            </a:r>
            <a:endParaRPr lang="en-IN" altLang="en-US" dirty="0"/>
          </a:p>
        </p:txBody>
      </p:sp>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982785" y="1008063"/>
            <a:ext cx="7194305" cy="5195887"/>
          </a:xfrm>
        </p:spPr>
      </p:pic>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a:t>DESIGN SCHEME</a:t>
            </a:r>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Testing (Breadboard Implementation)	</a:t>
            </a:r>
            <a:endParaRPr lang="en-IN" dirty="0"/>
          </a:p>
        </p:txBody>
      </p:sp>
      <p:sp>
        <p:nvSpPr>
          <p:cNvPr id="3" name="Content Placeholder 2"/>
          <p:cNvSpPr>
            <a:spLocks noGrp="1"/>
          </p:cNvSpPr>
          <p:nvPr>
            <p:ph idx="1"/>
          </p:nvPr>
        </p:nvSpPr>
        <p:spPr/>
        <p:txBody>
          <a:bodyPr>
            <a:normAutofit/>
          </a:bodyPr>
          <a:lstStyle/>
          <a:p>
            <a:pPr>
              <a:lnSpc>
                <a:spcPct val="110000"/>
              </a:lnSpc>
            </a:pPr>
            <a:r>
              <a:rPr lang="en-US" sz="2000" dirty="0">
                <a:cs typeface="Leelawadee" panose="020B0502040204020203"/>
              </a:rPr>
              <a:t>The entire system was first implemented and tested on a breadboard to verify individual component functionality. Each sensor was tested independently using separate </a:t>
            </a:r>
            <a:r>
              <a:rPr lang="en-US" sz="2000" dirty="0" err="1">
                <a:cs typeface="Leelawadee" panose="020B0502040204020203"/>
              </a:rPr>
              <a:t>Arduino</a:t>
            </a:r>
            <a:r>
              <a:rPr lang="en-US" sz="2000" dirty="0">
                <a:cs typeface="Leelawadee" panose="020B0502040204020203"/>
              </a:rPr>
              <a:t> test programs to confirm correct readings. The soil moisture sensor output was observed through the serial monitor, while DHT sensor readings were verified for temperature and humidity accuracy.</a:t>
            </a:r>
            <a:endParaRPr lang="en-US" sz="2000" dirty="0">
              <a:cs typeface="Leelawadee" panose="020B0502040204020203"/>
            </a:endParaRPr>
          </a:p>
          <a:p>
            <a:pPr>
              <a:lnSpc>
                <a:spcPct val="110000"/>
              </a:lnSpc>
            </a:pPr>
            <a:r>
              <a:rPr lang="en-US" sz="2000" dirty="0">
                <a:cs typeface="Leelawadee" panose="020B0502040204020203"/>
              </a:rPr>
              <a:t>The ultrasonic sensor was tested by measuring known distances to ensure proper water level detection. Output devices such as the relay module, LED, and buzzer were tested individually before integration. After successful individual testing, all components were interconnected on the breadboard and the complete system was tested under controlled conditions.</a:t>
            </a:r>
            <a:endParaRPr lang="en-US" sz="2000" dirty="0">
              <a:cs typeface="Leelawadee" panose="020B0502040204020203"/>
            </a:endParaRPr>
          </a:p>
          <a:p>
            <a:pPr>
              <a:lnSpc>
                <a:spcPct val="110000"/>
              </a:lnSpc>
            </a:pPr>
            <a:r>
              <a:rPr lang="en-US" sz="2000" dirty="0">
                <a:cs typeface="Leelawadee" panose="020B0502040204020203"/>
              </a:rPr>
              <a:t>This step-by-step testing approach ensured reliable system operation and reduced integration errors.</a:t>
            </a:r>
            <a:endParaRPr lang="en-US" sz="2000" dirty="0">
              <a:cs typeface="Leelawadee" panose="020B0502040204020203"/>
            </a:endParaRPr>
          </a:p>
          <a:p>
            <a:endParaRPr lang="en-IN" dirty="0"/>
          </a:p>
        </p:txBody>
      </p:sp>
      <p:sp>
        <p:nvSpPr>
          <p:cNvPr id="4" name="Date Placeholder 3"/>
          <p:cNvSpPr>
            <a:spLocks noGrp="1"/>
          </p:cNvSpPr>
          <p:nvPr>
            <p:ph type="dt" sz="half" idx="10"/>
          </p:nvPr>
        </p:nvSpPr>
        <p:spPr/>
        <p:txBody>
          <a:bodyPr/>
          <a:lstStyle/>
          <a:p>
            <a:fld id="{BF859030-E9C7-4BF7-BDDE-D8A9DA1DC43E}" type="datetime1">
              <a:rPr lang="en-IN" smtClean="0"/>
            </a:fld>
            <a:endParaRPr lang="en-IN"/>
          </a:p>
        </p:txBody>
      </p:sp>
      <p:sp>
        <p:nvSpPr>
          <p:cNvPr id="5" name="Footer Placeholder 4"/>
          <p:cNvSpPr>
            <a:spLocks noGrp="1"/>
          </p:cNvSpPr>
          <p:nvPr>
            <p:ph type="ftr" sz="quarter" idx="11"/>
          </p:nvPr>
        </p:nvSpPr>
        <p:spPr/>
        <p:txBody>
          <a:bodyPr/>
          <a:lstStyle/>
          <a:p>
            <a:r>
              <a:rPr lang="en-US" dirty="0"/>
              <a:t>TESTING</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Results, Analysis and Evaluation</a:t>
            </a:r>
            <a:endParaRPr lang="en-IN" dirty="0"/>
          </a:p>
        </p:txBody>
      </p:sp>
      <p:sp>
        <p:nvSpPr>
          <p:cNvPr id="3" name="Content Placeholder 2"/>
          <p:cNvSpPr>
            <a:spLocks noGrp="1"/>
          </p:cNvSpPr>
          <p:nvPr>
            <p:ph idx="1"/>
          </p:nvPr>
        </p:nvSpPr>
        <p:spPr/>
        <p:txBody>
          <a:bodyPr>
            <a:normAutofit/>
          </a:bodyPr>
          <a:lstStyle/>
          <a:p>
            <a:r>
              <a:rPr lang="en-US" sz="2400" dirty="0">
                <a:cs typeface="Leelawadee" panose="020B0502040204020203"/>
              </a:rPr>
              <a:t>The implemented system successfully monitored soil moisture, temperature, humidity, and water tank level in real time. The water pump automatically activated when soil moisture dropped below the predefined threshold and deactivated once adequate moisture was achieved. The ultrasonic sensor effectively prevented pump operation when the water tank level was low.</a:t>
            </a:r>
            <a:endParaRPr lang="en-US" sz="2400" dirty="0">
              <a:cs typeface="Leelawadee" panose="020B0502040204020203"/>
            </a:endParaRPr>
          </a:p>
          <a:p>
            <a:r>
              <a:rPr lang="en-US" sz="2400" dirty="0">
                <a:cs typeface="Leelawadee" panose="020B0502040204020203"/>
              </a:rPr>
              <a:t>The LCD display provided continuous system status, while the LED and buzzer offered clear visual and audio alerts. The system demonstrated reduced water wastage, improved watering accuracy, and minimal human intervention. Overall, the project met all design objectives and performed reliably under various test conditions</a:t>
            </a:r>
            <a:r>
              <a:rPr lang="en-US" sz="2400" dirty="0"/>
              <a:t>.</a:t>
            </a:r>
            <a:endParaRPr lang="en-US" sz="2400" dirty="0"/>
          </a:p>
          <a:p>
            <a:endParaRPr lang="en-IN" dirty="0"/>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US" dirty="0"/>
              <a:t>RESULT ANALYSIS AND EVALUATION</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Results, Analysis and Evaluation</a:t>
            </a:r>
            <a:endParaRPr lang="en-IN" dirty="0"/>
          </a:p>
        </p:txBody>
      </p:sp>
      <p:pic>
        <p:nvPicPr>
          <p:cNvPr id="8" name="Content Placeholder 7"/>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88006" y="1089025"/>
            <a:ext cx="3509962" cy="4679950"/>
          </a:xfrm>
        </p:spPr>
      </p:pic>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r>
              <a:rPr lang="en-IN"/>
              <a:t>RESULT ANALYSIS AND EVALUATION </a:t>
            </a:r>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35232" y="1399592"/>
            <a:ext cx="5120761" cy="394098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dirty="0"/>
              <a:t>Socio-economic Issues Associated With The Project</a:t>
            </a:r>
            <a:endParaRPr lang="en-IN" sz="2700" dirty="0"/>
          </a:p>
        </p:txBody>
      </p:sp>
      <p:sp>
        <p:nvSpPr>
          <p:cNvPr id="3" name="Content Placeholder 2"/>
          <p:cNvSpPr>
            <a:spLocks noGrp="1"/>
          </p:cNvSpPr>
          <p:nvPr>
            <p:ph idx="1"/>
          </p:nvPr>
        </p:nvSpPr>
        <p:spPr/>
        <p:txBody>
          <a:bodyPr>
            <a:normAutofit/>
          </a:bodyPr>
          <a:lstStyle/>
          <a:p>
            <a:r>
              <a:rPr lang="en-US" sz="2400" dirty="0">
                <a:cs typeface="Leelawadee" panose="020B0502040204020203"/>
              </a:rPr>
              <a:t>The proposed system contributes positively to society by promoting water conservation, which is crucial in water-scarce regions. It reduces dependency on manual labor, making it suitable for elderly users and small-scale farmers. The low-cost nature of the system ensures affordability and accessibility.</a:t>
            </a:r>
            <a:endParaRPr lang="en-US" sz="2400" dirty="0">
              <a:cs typeface="Leelawadee" panose="020B0502040204020203"/>
            </a:endParaRPr>
          </a:p>
          <a:p>
            <a:r>
              <a:rPr lang="en-US" sz="2400" dirty="0">
                <a:cs typeface="Leelawadee" panose="020B0502040204020203"/>
              </a:rPr>
              <a:t>Economically, the system minimizes water and electricity wastage, leading to long-term cost savings. It supports sustainable agriculture practices and can improve crop yield by ensuring optimal watering conditions. The project aligns with environmental sustainability goals and smart agriculture initiatives.</a:t>
            </a:r>
            <a:endParaRPr lang="en-US" sz="2400" dirty="0">
              <a:cs typeface="Leelawadee" panose="020B0502040204020203"/>
            </a:endParaRPr>
          </a:p>
          <a:p>
            <a:endParaRPr lang="en-IN" dirty="0"/>
          </a:p>
        </p:txBody>
      </p:sp>
      <p:sp>
        <p:nvSpPr>
          <p:cNvPr id="4" name="Date Placeholder 3"/>
          <p:cNvSpPr>
            <a:spLocks noGrp="1"/>
          </p:cNvSpPr>
          <p:nvPr>
            <p:ph type="dt" sz="half" idx="10"/>
          </p:nvPr>
        </p:nvSpPr>
        <p:spPr/>
        <p:txBody>
          <a:bodyPr/>
          <a:lstStyle/>
          <a:p>
            <a:fld id="{971EF6EB-ED59-4773-A66C-8FC357B65427}" type="datetime1">
              <a:rPr lang="en-IN" smtClean="0"/>
            </a:fld>
            <a:endParaRPr lang="en-IN"/>
          </a:p>
        </p:txBody>
      </p:sp>
      <p:sp>
        <p:nvSpPr>
          <p:cNvPr id="5" name="Footer Placeholder 4"/>
          <p:cNvSpPr>
            <a:spLocks noGrp="1"/>
          </p:cNvSpPr>
          <p:nvPr>
            <p:ph type="ftr" sz="quarter" idx="11"/>
          </p:nvPr>
        </p:nvSpPr>
        <p:spPr/>
        <p:txBody>
          <a:bodyPr/>
          <a:lstStyle/>
          <a:p>
            <a:r>
              <a:rPr lang="en-US" dirty="0"/>
              <a:t>SOCIO-ECONOMIC ISSUES ASSOCIATED WITH THE PROJECT</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Engineering Tools And Standards	</a:t>
            </a:r>
            <a:endParaRPr lang="en-IN" dirty="0"/>
          </a:p>
        </p:txBody>
      </p:sp>
      <p:sp>
        <p:nvSpPr>
          <p:cNvPr id="3" name="Content Placeholder 2"/>
          <p:cNvSpPr>
            <a:spLocks noGrp="1"/>
          </p:cNvSpPr>
          <p:nvPr>
            <p:ph idx="1"/>
          </p:nvPr>
        </p:nvSpPr>
        <p:spPr/>
        <p:txBody>
          <a:bodyPr/>
          <a:lstStyle/>
          <a:p>
            <a:r>
              <a:rPr lang="en-US" sz="2000" dirty="0">
                <a:cs typeface="Leelawadee" panose="020B0502040204020203"/>
              </a:rPr>
              <a:t>The project was developed using standard engineering tools and practices. </a:t>
            </a:r>
            <a:r>
              <a:rPr lang="en-US" sz="2000" dirty="0" err="1">
                <a:cs typeface="Leelawadee" panose="020B0502040204020203"/>
              </a:rPr>
              <a:t>Arduino</a:t>
            </a:r>
            <a:r>
              <a:rPr lang="en-US" sz="2000" dirty="0">
                <a:cs typeface="Leelawadee" panose="020B0502040204020203"/>
              </a:rPr>
              <a:t> IDE was used for embedded software development following structured programming principles. Sensors and modules were interfaced according to their datasheet specifications and voltage standards.</a:t>
            </a:r>
            <a:endParaRPr lang="en-US" sz="2000" dirty="0">
              <a:cs typeface="Leelawadee" panose="020B0502040204020203"/>
            </a:endParaRPr>
          </a:p>
          <a:p>
            <a:r>
              <a:rPr lang="en-US" sz="2000" dirty="0">
                <a:cs typeface="Leelawadee" panose="020B0502040204020203"/>
              </a:rPr>
              <a:t>Standard communication protocols such as </a:t>
            </a:r>
            <a:r>
              <a:rPr lang="en-US" sz="2000" b="1" dirty="0">
                <a:cs typeface="Leelawadee" panose="020B0502040204020203"/>
              </a:rPr>
              <a:t>I²C</a:t>
            </a:r>
            <a:r>
              <a:rPr lang="en-US" sz="2000" dirty="0">
                <a:cs typeface="Leelawadee" panose="020B0502040204020203"/>
              </a:rPr>
              <a:t> were used for LCD interfacing. Electrical safety was ensured by using relay isolation for motor control. Component selection adhered to low-voltage embedded system standards, ensuring system reliability, safety, and scalability.</a:t>
            </a:r>
            <a:endParaRPr lang="en-US" sz="2000" dirty="0">
              <a:cs typeface="Leelawadee" panose="020B0502040204020203"/>
            </a:endParaRPr>
          </a:p>
          <a:p>
            <a:endParaRPr lang="en-IN" dirty="0"/>
          </a:p>
        </p:txBody>
      </p:sp>
      <p:sp>
        <p:nvSpPr>
          <p:cNvPr id="4" name="Date Placeholder 3"/>
          <p:cNvSpPr>
            <a:spLocks noGrp="1"/>
          </p:cNvSpPr>
          <p:nvPr>
            <p:ph type="dt" sz="half" idx="10"/>
          </p:nvPr>
        </p:nvSpPr>
        <p:spPr/>
        <p:txBody>
          <a:bodyPr/>
          <a:lstStyle/>
          <a:p>
            <a:fld id="{DA231420-AA15-49AF-B1FE-F9C592D22DE5}" type="datetime1">
              <a:rPr lang="en-IN" smtClean="0"/>
            </a:fld>
            <a:endParaRPr lang="en-IN"/>
          </a:p>
        </p:txBody>
      </p:sp>
      <p:sp>
        <p:nvSpPr>
          <p:cNvPr id="5" name="Footer Placeholder 4"/>
          <p:cNvSpPr>
            <a:spLocks noGrp="1"/>
          </p:cNvSpPr>
          <p:nvPr>
            <p:ph type="ftr" sz="quarter" idx="11"/>
          </p:nvPr>
        </p:nvSpPr>
        <p:spPr/>
        <p:txBody>
          <a:bodyPr/>
          <a:lstStyle/>
          <a:p>
            <a:r>
              <a:rPr lang="en-US" dirty="0"/>
              <a:t>ENGINEERING TOOLS AND STANDARDS </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Conclusion</a:t>
            </a:r>
            <a:endParaRPr lang="en-IN" dirty="0"/>
          </a:p>
        </p:txBody>
      </p:sp>
      <p:sp>
        <p:nvSpPr>
          <p:cNvPr id="3" name="Content Placeholder 2"/>
          <p:cNvSpPr>
            <a:spLocks noGrp="1"/>
          </p:cNvSpPr>
          <p:nvPr>
            <p:ph idx="1"/>
          </p:nvPr>
        </p:nvSpPr>
        <p:spPr/>
        <p:txBody>
          <a:bodyPr/>
          <a:lstStyle/>
          <a:p>
            <a:r>
              <a:rPr lang="en-US" sz="2400" dirty="0"/>
              <a:t>An automatic plant watering system using </a:t>
            </a:r>
            <a:r>
              <a:rPr lang="en-US" sz="2400" dirty="0" err="1"/>
              <a:t>Arduino</a:t>
            </a:r>
            <a:r>
              <a:rPr lang="en-US" sz="2400" dirty="0"/>
              <a:t> was successfully designed and implemented. The system efficiently monitors soil and environmental conditions and performs automated irrigation based on real-time data. The inclusion of water level detection, visual display, and alert mechanisms enhances system reliability and usability.</a:t>
            </a:r>
            <a:endParaRPr lang="en-US" sz="2400" dirty="0"/>
          </a:p>
          <a:p>
            <a:r>
              <a:rPr lang="en-US" sz="2400" dirty="0"/>
              <a:t>The project demonstrates the effective application of embedded systems in smart irrigation and serves as a practical solution for efficient water management in domestic and small-scale agricultural environments.</a:t>
            </a:r>
            <a:endParaRPr lang="en-US" sz="2400" dirty="0"/>
          </a:p>
          <a:p>
            <a:endParaRPr lang="en-IN" dirty="0"/>
          </a:p>
        </p:txBody>
      </p:sp>
      <p:sp>
        <p:nvSpPr>
          <p:cNvPr id="4" name="Date Placeholder 3"/>
          <p:cNvSpPr>
            <a:spLocks noGrp="1"/>
          </p:cNvSpPr>
          <p:nvPr>
            <p:ph type="dt" sz="half" idx="10"/>
          </p:nvPr>
        </p:nvSpPr>
        <p:spPr/>
        <p:txBody>
          <a:bodyPr/>
          <a:lstStyle/>
          <a:p>
            <a:fld id="{553065FE-0069-489B-9A0E-0CE9C1C17171}" type="datetime1">
              <a:rPr lang="en-IN" smtClean="0"/>
            </a:fld>
            <a:endParaRPr lang="en-IN"/>
          </a:p>
        </p:txBody>
      </p:sp>
      <p:sp>
        <p:nvSpPr>
          <p:cNvPr id="5" name="Footer Placeholder 4"/>
          <p:cNvSpPr>
            <a:spLocks noGrp="1"/>
          </p:cNvSpPr>
          <p:nvPr>
            <p:ph type="ftr" sz="quarter" idx="11"/>
          </p:nvPr>
        </p:nvSpPr>
        <p:spPr/>
        <p:txBody>
          <a:bodyPr/>
          <a:lstStyle/>
          <a:p>
            <a:r>
              <a:rPr lang="en-US" dirty="0"/>
              <a:t>CONCLUSION </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References</a:t>
            </a:r>
            <a:endParaRPr lang="en-IN" dirty="0"/>
          </a:p>
        </p:txBody>
      </p:sp>
      <p:sp>
        <p:nvSpPr>
          <p:cNvPr id="3" name="Content Placeholder 2"/>
          <p:cNvSpPr>
            <a:spLocks noGrp="1"/>
          </p:cNvSpPr>
          <p:nvPr>
            <p:ph idx="1"/>
          </p:nvPr>
        </p:nvSpPr>
        <p:spPr/>
        <p:txBody>
          <a:bodyPr>
            <a:normAutofit/>
          </a:bodyPr>
          <a:lstStyle/>
          <a:p>
            <a:r>
              <a:rPr lang="en-IN" sz="2400" dirty="0" err="1"/>
              <a:t>Arduino</a:t>
            </a:r>
            <a:r>
              <a:rPr lang="en-IN" sz="2400" dirty="0"/>
              <a:t> Official Documentation, </a:t>
            </a:r>
            <a:r>
              <a:rPr lang="en-IN" sz="2400" dirty="0">
                <a:hlinkClick r:id="rId1"/>
              </a:rPr>
              <a:t>https://www.arduino.cc</a:t>
            </a:r>
            <a:endParaRPr lang="en-IN" sz="2400" dirty="0"/>
          </a:p>
          <a:p>
            <a:r>
              <a:rPr lang="en-IN" sz="2400" dirty="0"/>
              <a:t>Datasheets of DHT11/DHT22 Sensors</a:t>
            </a:r>
            <a:endParaRPr lang="en-IN" sz="2400" dirty="0"/>
          </a:p>
          <a:p>
            <a:r>
              <a:rPr lang="en-IN" sz="2400" dirty="0"/>
              <a:t>HC-SR04 Ultrasonic Sensor Datasheet</a:t>
            </a:r>
            <a:endParaRPr lang="en-IN" sz="2400" dirty="0"/>
          </a:p>
          <a:p>
            <a:pPr marL="0" indent="0">
              <a:buNone/>
            </a:pPr>
            <a:endParaRPr lang="en-IN" sz="2400" dirty="0"/>
          </a:p>
        </p:txBody>
      </p:sp>
      <p:sp>
        <p:nvSpPr>
          <p:cNvPr id="4" name="Date Placeholder 3"/>
          <p:cNvSpPr>
            <a:spLocks noGrp="1"/>
          </p:cNvSpPr>
          <p:nvPr>
            <p:ph type="dt" sz="half" idx="10"/>
          </p:nvPr>
        </p:nvSpPr>
        <p:spPr/>
        <p:txBody>
          <a:bodyPr/>
          <a:lstStyle/>
          <a:p>
            <a:fld id="{CFD2862B-87A5-4073-B616-5F0F829D58CA}" type="datetime1">
              <a:rPr lang="en-IN" smtClean="0"/>
            </a:fld>
            <a:endParaRPr lang="en-IN"/>
          </a:p>
        </p:txBody>
      </p:sp>
      <p:sp>
        <p:nvSpPr>
          <p:cNvPr id="5" name="Footer Placeholder 4"/>
          <p:cNvSpPr>
            <a:spLocks noGrp="1"/>
          </p:cNvSpPr>
          <p:nvPr>
            <p:ph type="ftr" sz="quarter" idx="11"/>
          </p:nvPr>
        </p:nvSpPr>
        <p:spPr/>
        <p:txBody>
          <a:bodyPr/>
          <a:lstStyle/>
          <a:p>
            <a:r>
              <a:rPr lang="en-US" dirty="0"/>
              <a:t>REFERENCES</a:t>
            </a:r>
            <a:endParaRPr lang="en-IN" dirty="0"/>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N"/>
          </a:p>
        </p:txBody>
      </p:sp>
      <p:sp>
        <p:nvSpPr>
          <p:cNvPr id="3" name="Content Placeholder 2"/>
          <p:cNvSpPr>
            <a:spLocks noGrp="1"/>
          </p:cNvSpPr>
          <p:nvPr>
            <p:ph idx="1"/>
          </p:nvPr>
        </p:nvSpPr>
        <p:spPr/>
        <p:txBody>
          <a:bodyPr/>
          <a:lstStyle/>
          <a:p>
            <a:endParaRPr lang="en-IN"/>
          </a:p>
        </p:txBody>
      </p:sp>
      <p:sp>
        <p:nvSpPr>
          <p:cNvPr id="4" name="Date Placeholder 3"/>
          <p:cNvSpPr>
            <a:spLocks noGrp="1"/>
          </p:cNvSpPr>
          <p:nvPr>
            <p:ph type="dt" sz="half" idx="10"/>
          </p:nvPr>
        </p:nvSpPr>
        <p:spPr/>
        <p:txBody>
          <a:bodyPr/>
          <a:lstStyle/>
          <a:p>
            <a:fld id="{7EA8749E-3FF3-41B2-B4DE-BB379C572509}"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FB7573-0EEC-4F18-B4D8-B9624EC7F9C7}" type="slidenum">
              <a:rPr lang="en-IN" smtClean="0"/>
            </a:fld>
            <a:endParaRPr lang="en-IN"/>
          </a:p>
        </p:txBody>
      </p:sp>
      <p:pic>
        <p:nvPicPr>
          <p:cNvPr id="2050" name="Picture 2" descr="https://i0.wp.com/sociallover.net/wp-content/uploads/2017/04/thank-you-images-for-pp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8965</Words>
  <Application>WPS Presentation</Application>
  <PresentationFormat>On-screen Show (4:3)</PresentationFormat>
  <Paragraphs>273</Paragraphs>
  <Slides>22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SimSun</vt:lpstr>
      <vt:lpstr>Wingdings</vt:lpstr>
      <vt:lpstr>Leelawadee</vt:lpstr>
      <vt:lpstr>Leelawadee UI</vt:lpstr>
      <vt:lpstr>Book Antiqua</vt:lpstr>
      <vt:lpstr>Leelawadee</vt:lpstr>
      <vt:lpstr>Calibri</vt:lpstr>
      <vt:lpstr>Microsoft YaHei</vt:lpstr>
      <vt:lpstr>Arial Unicode MS</vt:lpstr>
      <vt:lpstr>Office Theme</vt:lpstr>
      <vt:lpstr>Embedded System Projects using Arduino (EET 4109) End-Term Project Presentation on Arduino Based Automatic Plant Watering System with Environmental Monitoring</vt:lpstr>
      <vt:lpstr>Contents</vt:lpstr>
      <vt:lpstr>Introduction	</vt:lpstr>
      <vt:lpstr>Literature Survey	</vt:lpstr>
      <vt:lpstr>Design Scheme	</vt:lpstr>
      <vt:lpstr>Design Scheme</vt:lpstr>
      <vt:lpstr>Design Scheme</vt:lpstr>
      <vt:lpstr>Design Scheme</vt:lpstr>
      <vt:lpstr>Design Scheme</vt:lpstr>
      <vt:lpstr>Design Scheme</vt:lpstr>
      <vt:lpstr>Design Scheme</vt:lpstr>
      <vt:lpstr>Design Scheme</vt:lpstr>
      <vt:lpstr>Design Scheme</vt:lpstr>
      <vt:lpstr>Design Title</vt:lpstr>
      <vt:lpstr>Testing (Breadboard Implementation)	</vt:lpstr>
      <vt:lpstr>Results, Analysis and Evaluation</vt:lpstr>
      <vt:lpstr>Results, Analysis and Evaluation</vt:lpstr>
      <vt:lpstr>Socio-economic Issues Associated With The Project</vt:lpstr>
      <vt:lpstr>Engineering Tools And Standards	</vt:lpstr>
      <vt:lpstr>Conclusion</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P</dc:creator>
  <cp:lastModifiedBy>Chandra Sekhar Acharya</cp:lastModifiedBy>
  <cp:revision>51</cp:revision>
  <dcterms:created xsi:type="dcterms:W3CDTF">2019-03-27T16:45:00Z</dcterms:created>
  <dcterms:modified xsi:type="dcterms:W3CDTF">2025-12-21T08:00:21Z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4BA638D3682F4FB88200272B5CBB6CB5_13</vt:lpwstr>
  </property>
  <property fmtid="{D5CDD505-2E9C-101B-9397-08002B2CF9AE}" pid="3" name="KSOProductBuildVer">
    <vt:lpwstr>1033-12.2.0.23196</vt:lpwstr>
  </property>
</Properties>
</file>